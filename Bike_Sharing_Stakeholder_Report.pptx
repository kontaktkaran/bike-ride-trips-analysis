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460" y="-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IN" sz="1300" b="1" i="0" u="none" strike="noStrike">
                <a:solidFill>
                  <a:srgbClr val="1E293B"/>
                </a:solidFill>
                <a:latin typeface="Arial"/>
              </a:rPr>
              <a:t>Trips by Bike Type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Bike Type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65A8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A8E-4083-AB1F-C50F3C16A7DC}"/>
              </c:ext>
            </c:extLst>
          </c:dPt>
          <c:dPt>
            <c:idx val="1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A8E-4083-AB1F-C50F3C16A7DC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A8E-4083-AB1F-C50F3C16A7DC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A8E-4083-AB1F-C50F3C16A7DC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Classic Bike</c:v>
                </c:pt>
                <c:pt idx="1">
                  <c:v>Electric Bike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64.98</c:v>
                </c:pt>
                <c:pt idx="1">
                  <c:v>35.020000000000003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A8E-4083-AB1F-C50F3C16A7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4F8F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US" sz="1300" b="1" i="0" u="none" strike="noStrike">
                <a:solidFill>
                  <a:srgbClr val="1E293B"/>
                </a:solidFill>
                <a:latin typeface="Arial"/>
              </a:rPr>
              <a:t>Trips by Hour of Day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Trips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cat>
            <c:strRef>
              <c:f>Sheet1!$A$2:$A$25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7.0000000000000007E-2</c:v>
                </c:pt>
                <c:pt idx="1">
                  <c:v>0.03</c:v>
                </c:pt>
                <c:pt idx="2">
                  <c:v>0.02</c:v>
                </c:pt>
                <c:pt idx="3">
                  <c:v>0.01</c:v>
                </c:pt>
                <c:pt idx="4">
                  <c:v>0.01</c:v>
                </c:pt>
                <c:pt idx="5">
                  <c:v>0.03</c:v>
                </c:pt>
                <c:pt idx="6">
                  <c:v>0.13</c:v>
                </c:pt>
                <c:pt idx="7">
                  <c:v>0.23</c:v>
                </c:pt>
                <c:pt idx="8">
                  <c:v>0.33</c:v>
                </c:pt>
                <c:pt idx="9">
                  <c:v>0.32</c:v>
                </c:pt>
                <c:pt idx="10">
                  <c:v>0.32</c:v>
                </c:pt>
                <c:pt idx="11">
                  <c:v>0.39</c:v>
                </c:pt>
                <c:pt idx="12">
                  <c:v>0.45</c:v>
                </c:pt>
                <c:pt idx="13">
                  <c:v>0.47</c:v>
                </c:pt>
                <c:pt idx="14">
                  <c:v>0.56999999999999995</c:v>
                </c:pt>
                <c:pt idx="15">
                  <c:v>0.54</c:v>
                </c:pt>
                <c:pt idx="16">
                  <c:v>0.39</c:v>
                </c:pt>
                <c:pt idx="17">
                  <c:v>0.33</c:v>
                </c:pt>
                <c:pt idx="18">
                  <c:v>0.32</c:v>
                </c:pt>
                <c:pt idx="19">
                  <c:v>0.23</c:v>
                </c:pt>
                <c:pt idx="20">
                  <c:v>0.14000000000000001</c:v>
                </c:pt>
                <c:pt idx="21">
                  <c:v>0.1</c:v>
                </c:pt>
                <c:pt idx="22">
                  <c:v>0.08</c:v>
                </c:pt>
                <c:pt idx="23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416-4A53-AA1C-77ED3CAD8D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8FB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IN" sz="1300" b="1" i="0" u="none" strike="noStrike">
                <a:solidFill>
                  <a:srgbClr val="1E293B"/>
                </a:solidFill>
                <a:latin typeface="Arial"/>
              </a:rPr>
              <a:t>Monthly Trip Trends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Casual</c:v>
                </c:pt>
              </c:strCache>
            </c:strRef>
          </c:tx>
          <c:spPr>
            <a:ln w="31750" cap="flat">
              <a:solidFill>
                <a:srgbClr val="02C39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2C39A"/>
              </a:solidFill>
              <a:ln w="9525" cap="flat">
                <a:solidFill>
                  <a:srgbClr val="02C39A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0.02</c:v>
                </c:pt>
                <c:pt idx="1">
                  <c:v>0.03</c:v>
                </c:pt>
                <c:pt idx="2">
                  <c:v>0.05</c:v>
                </c:pt>
                <c:pt idx="3">
                  <c:v>0.09</c:v>
                </c:pt>
                <c:pt idx="4">
                  <c:v>0.12</c:v>
                </c:pt>
                <c:pt idx="5">
                  <c:v>0.21</c:v>
                </c:pt>
                <c:pt idx="6">
                  <c:v>0.26</c:v>
                </c:pt>
                <c:pt idx="7">
                  <c:v>0.26</c:v>
                </c:pt>
                <c:pt idx="8">
                  <c:v>0.18</c:v>
                </c:pt>
                <c:pt idx="9">
                  <c:v>0.1</c:v>
                </c:pt>
                <c:pt idx="10">
                  <c:v>0.05</c:v>
                </c:pt>
                <c:pt idx="11">
                  <c:v>0.05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47CA-4283-BA8D-90750E6DAC5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Member</c:v>
                </c:pt>
              </c:strCache>
            </c:strRef>
          </c:tx>
          <c:spPr>
            <a:ln w="31750" cap="flat">
              <a:solidFill>
                <a:srgbClr val="065A8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0.05</c:v>
                </c:pt>
                <c:pt idx="1">
                  <c:v>0.09</c:v>
                </c:pt>
                <c:pt idx="2">
                  <c:v>0.18</c:v>
                </c:pt>
                <c:pt idx="3">
                  <c:v>0.28999999999999998</c:v>
                </c:pt>
                <c:pt idx="4">
                  <c:v>0.32</c:v>
                </c:pt>
                <c:pt idx="5">
                  <c:v>0.39</c:v>
                </c:pt>
                <c:pt idx="6">
                  <c:v>0.45</c:v>
                </c:pt>
                <c:pt idx="7">
                  <c:v>0.45</c:v>
                </c:pt>
                <c:pt idx="8">
                  <c:v>0.44</c:v>
                </c:pt>
                <c:pt idx="9">
                  <c:v>0.34</c:v>
                </c:pt>
                <c:pt idx="10">
                  <c:v>0.22</c:v>
                </c:pt>
                <c:pt idx="11">
                  <c:v>0.26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47CA-4283-BA8D-90750E6DAC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4F8FB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US" sz="1300" b="1" i="0" u="none" strike="noStrike">
                <a:solidFill>
                  <a:srgbClr val="1E293B"/>
                </a:solidFill>
                <a:latin typeface="Arial"/>
              </a:rPr>
              <a:t>Trips by Day of Week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Trips (M)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Sun</c:v>
                </c:pt>
                <c:pt idx="1">
                  <c:v>Mon</c:v>
                </c:pt>
                <c:pt idx="2">
                  <c:v>Tue</c:v>
                </c:pt>
                <c:pt idx="3">
                  <c:v>Wed</c:v>
                </c:pt>
                <c:pt idx="4">
                  <c:v>Thu</c:v>
                </c:pt>
                <c:pt idx="5">
                  <c:v>Fri</c:v>
                </c:pt>
                <c:pt idx="6">
                  <c:v>Sat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0.71</c:v>
                </c:pt>
                <c:pt idx="1">
                  <c:v>0.73</c:v>
                </c:pt>
                <c:pt idx="2">
                  <c:v>0.77</c:v>
                </c:pt>
                <c:pt idx="3">
                  <c:v>0.79</c:v>
                </c:pt>
                <c:pt idx="4">
                  <c:v>0.83</c:v>
                </c:pt>
                <c:pt idx="5">
                  <c:v>0.85</c:v>
                </c:pt>
                <c:pt idx="6">
                  <c:v>0.86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BB6-4626-9A9D-D69654A5B2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8FB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IN" sz="1300" b="1" i="0" u="none" strike="noStrike">
                <a:solidFill>
                  <a:srgbClr val="1E293B"/>
                </a:solidFill>
                <a:latin typeface="Arial"/>
              </a:rPr>
              <a:t>Trip Duration Groups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Trips (M)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65A8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6E0-44ED-B486-28046ABF931C}"/>
              </c:ext>
            </c:extLst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6E0-44ED-B486-28046ABF931C}"/>
              </c:ext>
            </c:extLst>
          </c:dPt>
          <c:dPt>
            <c:idx val="2"/>
            <c:invertIfNegative val="0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6E0-44ED-B486-28046ABF931C}"/>
              </c:ext>
            </c:extLst>
          </c:dPt>
          <c:dPt>
            <c:idx val="3"/>
            <c:invertIfNegative val="0"/>
            <c:bubble3D val="0"/>
            <c:spPr>
              <a:solidFill>
                <a:srgbClr val="9EC5D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6E0-44ED-B486-28046ABF931C}"/>
              </c:ext>
            </c:extLst>
          </c:dPt>
          <c:dPt>
            <c:idx val="4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6E0-44ED-B486-28046ABF931C}"/>
              </c:ext>
            </c:extLst>
          </c:dPt>
          <c:dPt>
            <c:idx val="5"/>
            <c:invertIfNegative val="0"/>
            <c:bubble3D val="0"/>
            <c:spPr>
              <a:solidFill>
                <a:srgbClr val="E2E8F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66E0-44ED-B486-28046ABF931C}"/>
              </c:ext>
            </c:extLst>
          </c:dPt>
          <c:dPt>
            <c:idx val="6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66E0-44ED-B486-28046ABF931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1–30 min</c:v>
                </c:pt>
                <c:pt idx="1">
                  <c:v>30–60 min</c:v>
                </c:pt>
                <c:pt idx="2">
                  <c:v>1–2 Hr</c:v>
                </c:pt>
                <c:pt idx="3">
                  <c:v>2–3 Hr</c:v>
                </c:pt>
                <c:pt idx="4">
                  <c:v>3–4 Hr</c:v>
                </c:pt>
                <c:pt idx="5">
                  <c:v>4–5 Hr</c:v>
                </c:pt>
                <c:pt idx="6">
                  <c:v>5+ Hr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</c:v>
                </c:pt>
                <c:pt idx="1">
                  <c:v>0.4</c:v>
                </c:pt>
                <c:pt idx="2">
                  <c:v>0.1</c:v>
                </c:pt>
                <c:pt idx="3">
                  <c:v>0.1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66E0-44ED-B486-28046ABF931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8FB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IN" sz="1300" b="1" i="0" u="none" strike="noStrike">
                <a:solidFill>
                  <a:srgbClr val="1E293B"/>
                </a:solidFill>
                <a:latin typeface="Arial"/>
              </a:rPr>
              <a:t>Top 10 Start Stations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Trips (K)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Clark St &amp; El...</c:v>
                </c:pt>
                <c:pt idx="1">
                  <c:v>Clinton St &amp; W...</c:v>
                </c:pt>
                <c:pt idx="2">
                  <c:v>Clinton St &amp; M...</c:v>
                </c:pt>
                <c:pt idx="3">
                  <c:v>Streeter Dr &amp;...</c:v>
                </c:pt>
                <c:pt idx="4">
                  <c:v>DuSable Lake...</c:v>
                </c:pt>
                <c:pt idx="5">
                  <c:v>Michigan Ave...</c:v>
                </c:pt>
                <c:pt idx="6">
                  <c:v>Navy Pier</c:v>
                </c:pt>
                <c:pt idx="7">
                  <c:v>Kingsbury St...</c:v>
                </c:pt>
                <c:pt idx="8">
                  <c:v>DuSable Lake...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25</c:v>
                </c:pt>
                <c:pt idx="1">
                  <c:v>25</c:v>
                </c:pt>
                <c:pt idx="2">
                  <c:v>27</c:v>
                </c:pt>
                <c:pt idx="3">
                  <c:v>28</c:v>
                </c:pt>
                <c:pt idx="4">
                  <c:v>30</c:v>
                </c:pt>
                <c:pt idx="5">
                  <c:v>31</c:v>
                </c:pt>
                <c:pt idx="6">
                  <c:v>32</c:v>
                </c:pt>
                <c:pt idx="7">
                  <c:v>35</c:v>
                </c:pt>
                <c:pt idx="8">
                  <c:v>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722-49D3-8811-2E785A0417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8F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8748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457200"/>
            <a:ext cx="2743200" cy="2743200"/>
          </a:xfrm>
          <a:prstGeom prst="ellipse">
            <a:avLst/>
          </a:prstGeom>
          <a:solidFill>
            <a:srgbClr val="065A82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200400"/>
            <a:ext cx="2286000" cy="22860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182880"/>
            <a:ext cx="1097280" cy="1097280"/>
          </a:xfrm>
          <a:prstGeom prst="ellipse">
            <a:avLst/>
          </a:prstGeom>
          <a:solidFill>
            <a:srgbClr val="02C39A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280160"/>
            <a:ext cx="1463040" cy="2926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801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2137"/>
                </a:solidFill>
              </a:rPr>
              <a:t>STAKEHOLDER BRIEFING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 Sharing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48640" y="35204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EC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performance insights — Feb 01, 2025 to Dec 31, 2025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977640"/>
            <a:ext cx="27432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2062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EC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Period: Feb – Dec 2025  |  Total Fleet Active  |  Power BI Analytics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Key Performance Metrics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EC5DE"/>
                </a:solidFill>
              </a:rPr>
              <a:t>Overall Summary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201168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2011680" cy="2011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12801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5.54M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28600" y="2011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</a:rPr>
              <a:t>Total Trips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" y="23042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EC5DE"/>
                </a:solidFill>
              </a:rPr>
              <a:t>trips completed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23160" y="960120"/>
            <a:ext cx="201168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23160" y="960120"/>
            <a:ext cx="2011680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2423160" y="12801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14.58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423160" y="2011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</a:rPr>
              <a:t>Avg Trip Duration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23160" y="23042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EC5DE"/>
                </a:solidFill>
              </a:rPr>
              <a:t>minutes per trip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17720" y="960120"/>
            <a:ext cx="201168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960120"/>
            <a:ext cx="2011680" cy="20116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4617720" y="12801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KM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617720" y="2011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</a:rPr>
              <a:t>Avg Trip Distance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17720" y="23042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EC5DE"/>
                </a:solidFill>
              </a:rPr>
              <a:t>per ride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12280" y="960120"/>
            <a:ext cx="201168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12280" y="960120"/>
            <a:ext cx="2011680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6812280" y="12801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64.04%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812280" y="2011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</a:rPr>
              <a:t>Member Riders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12280" y="23042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EC5DE"/>
                </a:solidFill>
              </a:rPr>
              <a:t>vs 35.96% casual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28600" y="3063240"/>
            <a:ext cx="8686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8600" y="3063240"/>
            <a:ext cx="164592" cy="16916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3154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Key Takeaway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3474720"/>
            <a:ext cx="8321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recorded over 5.5 million trips with an impressive 64% member retention rate. Members dominate usage, signaling strong loyalty programs. Casual riders at ~36% represent a key growth opportunity for subscription conversion.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Fleet Utilization &amp; Peak Hours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28600" y="914400"/>
          <a:ext cx="384048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251960" y="914400"/>
          <a:ext cx="46634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228600" y="4251960"/>
            <a:ext cx="8686800" cy="594360"/>
          </a:xfrm>
          <a:prstGeom prst="rect">
            <a:avLst/>
          </a:prstGeom>
          <a:solidFill>
            <a:srgbClr val="1C7293">
              <a:alpha val="15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💡  Peak usage occurs between 3–5 PM (afternoon commute). Classic bikes lead at 65% — electric bikes show strong 35% adoption, an area for fleet expansion.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Trip Trends: Monthly &amp; Weekly Patterns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28600" y="914400"/>
          <a:ext cx="502920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5440680" y="914400"/>
          <a:ext cx="347472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228600" y="4160520"/>
            <a:ext cx="8686800" cy="685800"/>
          </a:xfrm>
          <a:prstGeom prst="rect">
            <a:avLst/>
          </a:prstGeom>
          <a:solidFill>
            <a:srgbClr val="065A82">
              <a:alpha val="12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365760" y="416052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💡  Summer months (Jul–Aug) peak at 0.45M trips. Weekend ridership is highest on Saturdays (0.86M) — ideal for promotional campaigns and fleet optimization.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Trip Duration Distribution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28600" y="1005840"/>
          <a:ext cx="53035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1097280"/>
            <a:ext cx="31089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760720" y="1097280"/>
            <a:ext cx="164592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4"/>
          <p:cNvSpPr/>
          <p:nvPr/>
        </p:nvSpPr>
        <p:spPr>
          <a:xfrm>
            <a:off x="6035040" y="1143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~90%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6035040" y="1600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trips under 30 minutes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760720" y="2331720"/>
            <a:ext cx="31089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60720" y="2331720"/>
            <a:ext cx="164592" cy="1005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8"/>
          <p:cNvSpPr/>
          <p:nvPr/>
        </p:nvSpPr>
        <p:spPr>
          <a:xfrm>
            <a:off x="6035040" y="2377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5.0M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6035040" y="2834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short trip rides (1–30 min)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760720" y="3566160"/>
            <a:ext cx="31089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760720" y="3566160"/>
            <a:ext cx="164592" cy="10058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5" name="Text 12"/>
          <p:cNvSpPr/>
          <p:nvPr/>
        </p:nvSpPr>
        <p:spPr>
          <a:xfrm>
            <a:off x="6035040" y="3611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14.58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6035040" y="4069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average minutes per trip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28600" y="4297680"/>
            <a:ext cx="8686800" cy="548640"/>
          </a:xfrm>
          <a:prstGeom prst="rect">
            <a:avLst/>
          </a:prstGeom>
          <a:solidFill>
            <a:srgbClr val="02C39A">
              <a:alpha val="12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365760" y="42976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💡  The overwhelming majority of rides are short trips under 30 min — indicates urban commuting use case. Pricing models should incentivize this pattern.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Station-Wise Performance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28600" y="914400"/>
          <a:ext cx="438912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4846320" y="9144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Top Routes by Trips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325880"/>
          <a:ext cx="3840480" cy="2752344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Start Station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End Station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Trips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Ellis Ave &amp; 60th St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Ellis Ave &amp; 55th St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4,424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Ellis Ave &amp; 55th St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Ellis Ave &amp; 60th St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4,249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Ellis Ave &amp; 60th St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University Ave &amp; 57th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3,794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University &amp; 57th St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Ellis Ave &amp; 60th St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3,752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DuSable Lake Shore...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Navy Pier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2,904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DuSable Lake Shore...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Streeter Dr &amp; Grand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2,386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28600" y="4434840"/>
            <a:ext cx="8686800" cy="457200"/>
          </a:xfrm>
          <a:prstGeom prst="rect">
            <a:avLst/>
          </a:prstGeom>
          <a:solidFill>
            <a:srgbClr val="F59E0B">
              <a:alpha val="12000"/>
            </a:srgbClr>
          </a:solidFill>
          <a:ln/>
        </p:spPr>
      </p:sp>
      <p:sp>
        <p:nvSpPr>
          <p:cNvPr id="8" name="Text 4"/>
          <p:cNvSpPr/>
          <p:nvPr/>
        </p:nvSpPr>
        <p:spPr>
          <a:xfrm>
            <a:off x="365760" y="44348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⚠  Note: Start &amp; End Station data has 0.5M+ unknown values — data quality improvement needed for precision routing insights.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274320"/>
            <a:ext cx="2286000" cy="2286000"/>
          </a:xfrm>
          <a:prstGeom prst="ellipse">
            <a:avLst/>
          </a:prstGeom>
          <a:solidFill>
            <a:srgbClr val="1C7293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3657600"/>
            <a:ext cx="1828800" cy="1828800"/>
          </a:xfrm>
          <a:prstGeom prst="ellipse">
            <a:avLst/>
          </a:prstGeom>
          <a:solidFill>
            <a:srgbClr val="065A82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02C39A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097280"/>
            <a:ext cx="4023360" cy="1508760"/>
          </a:xfrm>
          <a:prstGeom prst="rect">
            <a:avLst/>
          </a:prstGeom>
          <a:solidFill>
            <a:srgbClr val="132B4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97280"/>
            <a:ext cx="640080" cy="1508760"/>
          </a:xfrm>
          <a:prstGeom prst="rect">
            <a:avLst/>
          </a:prstGeom>
          <a:solidFill>
            <a:srgbClr val="02C39A">
              <a:alpha val="8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097280"/>
            <a:ext cx="640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118872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</a:rPr>
              <a:t>Convert Casual → Member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155448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EC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36% casual riders, targeted promotions and trial memberships can drive subscription growth and recurring revenue.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4023360" cy="1508760"/>
          </a:xfrm>
          <a:prstGeom prst="rect">
            <a:avLst/>
          </a:prstGeom>
          <a:solidFill>
            <a:srgbClr val="132B4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97280"/>
            <a:ext cx="640080" cy="1508760"/>
          </a:xfrm>
          <a:prstGeom prst="rect">
            <a:avLst/>
          </a:prstGeom>
          <a:solidFill>
            <a:srgbClr val="02C39A">
              <a:alpha val="8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097280"/>
            <a:ext cx="640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86400" y="118872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</a:rPr>
              <a:t>Expand Electric Fleet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0" y="155448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EC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bikes at 35% adoption signals strong demand. Increasing e-bike availability can improve margins and user satisfaction.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834640"/>
            <a:ext cx="4023360" cy="1508760"/>
          </a:xfrm>
          <a:prstGeom prst="rect">
            <a:avLst/>
          </a:prstGeom>
          <a:solidFill>
            <a:srgbClr val="132B4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834640"/>
            <a:ext cx="640080" cy="1508760"/>
          </a:xfrm>
          <a:prstGeom prst="rect">
            <a:avLst/>
          </a:prstGeom>
          <a:solidFill>
            <a:srgbClr val="02C39A">
              <a:alpha val="8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2834640"/>
            <a:ext cx="640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97280" y="292608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</a:rPr>
              <a:t>Peak-Hour Capacity Planning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329184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EC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PM sees peak demand. Pre-position bikes near top stations to minimize wait times and maximize throughput.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2834640"/>
            <a:ext cx="4023360" cy="1508760"/>
          </a:xfrm>
          <a:prstGeom prst="rect">
            <a:avLst/>
          </a:prstGeom>
          <a:solidFill>
            <a:srgbClr val="132B4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2834640"/>
            <a:ext cx="640080" cy="1508760"/>
          </a:xfrm>
          <a:prstGeom prst="rect">
            <a:avLst/>
          </a:prstGeom>
          <a:solidFill>
            <a:srgbClr val="02C39A">
              <a:alpha val="8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2834640"/>
            <a:ext cx="640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486400" y="292608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</a:rPr>
              <a:t>Summer Campaign Boost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0" y="329184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EC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July–August peaks suggest seasonal campaigns. Bundle offers during summer can retain casual riders and build habit.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72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0D2137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2743200"/>
            <a:ext cx="3200400" cy="3200400"/>
          </a:xfrm>
          <a:prstGeom prst="ellipse">
            <a:avLst/>
          </a:prstGeom>
          <a:solidFill>
            <a:srgbClr val="0D2137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9144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0EEF7"/>
                </a:solidFill>
              </a:rPr>
              <a:t>Bike Sharing Analytics Dashboard  |  2025 Performance Review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971800"/>
            <a:ext cx="1737360" cy="1005840"/>
          </a:xfrm>
          <a:prstGeom prst="rect">
            <a:avLst/>
          </a:prstGeom>
          <a:solidFill>
            <a:srgbClr val="0D2137">
              <a:alpha val="4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0175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5.54M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35204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EEF7"/>
                </a:solidFill>
              </a:rPr>
              <a:t>Total Trips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51760" y="2971800"/>
            <a:ext cx="1737360" cy="1005840"/>
          </a:xfrm>
          <a:prstGeom prst="rect">
            <a:avLst/>
          </a:prstGeom>
          <a:solidFill>
            <a:srgbClr val="0D2137">
              <a:alpha val="4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2651760" y="30175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64%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651760" y="35204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EEF7"/>
                </a:solidFill>
              </a:rPr>
              <a:t>Members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2971800"/>
            <a:ext cx="1737360" cy="1005840"/>
          </a:xfrm>
          <a:prstGeom prst="rect">
            <a:avLst/>
          </a:prstGeom>
          <a:solidFill>
            <a:srgbClr val="0D2137">
              <a:alpha val="4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30175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14.58 min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63440" y="35204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EEF7"/>
                </a:solidFill>
              </a:rPr>
              <a:t>Avg Duration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675120" y="2971800"/>
            <a:ext cx="1737360" cy="1005840"/>
          </a:xfrm>
          <a:prstGeom prst="rect">
            <a:avLst/>
          </a:prstGeom>
          <a:solidFill>
            <a:srgbClr val="0D2137">
              <a:alpha val="4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0" y="30175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2.2 KM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675120" y="35204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EEF7"/>
                </a:solidFill>
              </a:rPr>
              <a:t>Avg Distance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D8E8"/>
                </a:solidFill>
              </a:rPr>
              <a:t>Data Source: Power BI Bike Sharing Dataset  |  Analysis Period: Jan–Dec 2025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495</Words>
  <Application>Microsoft Office PowerPoint</Application>
  <PresentationFormat>On-screen Show (16:9)</PresentationFormat>
  <Paragraphs>97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Bike Sharing Analytics Dashboard</dc:title>
  <dc:subject>PptxGenJS Presentation</dc:subject>
  <dc:creator>PptxGenJS</dc:creator>
  <cp:lastModifiedBy>Karan Kumar</cp:lastModifiedBy>
  <cp:revision>2</cp:revision>
  <dcterms:created xsi:type="dcterms:W3CDTF">2026-05-27T09:12:12Z</dcterms:created>
  <dcterms:modified xsi:type="dcterms:W3CDTF">2026-06-05T07:52:42Z</dcterms:modified>
</cp:coreProperties>
</file>